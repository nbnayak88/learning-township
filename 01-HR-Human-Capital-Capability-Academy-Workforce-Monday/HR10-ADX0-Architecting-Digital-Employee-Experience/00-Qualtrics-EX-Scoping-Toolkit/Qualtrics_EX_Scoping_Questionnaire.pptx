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session. Employee Central and PMGM are live, so the people data foundation exists. The tight part is the 3-4 month window with other SuccessFactors modules arriving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Questionnaire is completed asynchronously; workshops are used to resolve open decisions rather than read questions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 is our hypothesis, not a promise. Ask the sponsor to challenge each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hypothesis to challenge. The test is whether each use case needs data or modules that will not exist at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only. Integration options (pre-packaged extension, SFTP, API/Integration Center, SAP BTP Integration Suite) must be validated with SAP and Qualtrics. Section 11 and 12 of the questionnaire cover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CONTEXT &amp; OBJECTIVES</a:t>
            </a:r>
          </a:p>
          <a:p>
            <a:r>
              <a:t>CTX-01 [P1, Week 2] What are the top three business outcomes you expect from Qualtrics EX (for example lower regretted attrition, higher engagement, better onboarding, stronger managers, SuccessFactors adoption)? Please rank them.</a:t>
            </a:r>
          </a:p>
          <a:p>
            <a:r>
              <a:t>CTX-02 [P1, Week 2] Who is the executive sponsor, and what decision rights do they hold over scope, budget and the go-live date?</a:t>
            </a:r>
          </a:p>
          <a:p>
            <a:r>
              <a:t>CTX-03 [P1, Week 2] Which employee listening tools, vendors and programmes run today (engagement, pulse, onboarding, exit, 360)? Please share the last 24 months of results, response rates and survey instruments.</a:t>
            </a:r>
          </a:p>
          <a:p>
            <a:r>
              <a:t>CTX-04 [P1, Week 4] Which existing survey programmes must be replaced, kept, or run in parallel at go-live?</a:t>
            </a:r>
          </a:p>
          <a:p>
            <a:r>
              <a:t>CTX-05 [P1, Week 2] Workforce profile: headcount, countries, legal entities, worker types (employees, contingent, interns), share of shift or deskless staff, and languages spoken.</a:t>
            </a:r>
          </a:p>
          <a:p>
            <a:r>
              <a:t>CTX-06 [P1, Week 2] Is the go-live date fixed? What drives it (contract start, board commitment, business event) and what is the cost of moving it by four weeks?</a:t>
            </a:r>
          </a:p>
          <a:p>
            <a:r>
              <a:t>CTX-07 [P1, Week 2] Which other programmes compete for the same HR, HRIS, IT and communications people over the next four months (other SF module go-lives, payroll cycles, M&amp;A, restructuring)?</a:t>
            </a:r>
          </a:p>
          <a:p>
            <a:r>
              <a:t>CTX-08 [P2, Week 4] Who will own EX after go-live (HR, People Analytics, IT, Internal Comms) and how large is the run team?</a:t>
            </a:r>
          </a:p>
          <a:p>
            <a:r>
              <a:t>CTX-09 [P2, Week 4] Is there an EX framework, employee value proposition or people strategy that survey content and dashboards should align to?</a:t>
            </a:r>
          </a:p>
          <a:p>
            <a:r>
              <a:t>CTX-10 [P2, Week 4] What has worked or failed in past listening efforts (low participation, survey fatigue, no visible action, trust issues)?</a:t>
            </a:r>
          </a:p>
          <a:p>
            <a:r>
              <a:t>CTX-11 [P1, Week 2] Is Qualtrics already used elsewhere in the organisation (CX, brand, research)? If so, share tenant details, data centre and existing administrators.</a:t>
            </a:r>
          </a:p>
          <a:p/>
          <a:p>
            <a:r>
              <a:t>SUCCESS MEASURES &amp; OPERATING MODEL</a:t>
            </a:r>
          </a:p>
          <a:p>
            <a:r>
              <a:t>SUC-01 [P1, Week 2] Which three to five KPIs define success at 6 and 12 months (participation, eNPS, onboarding satisfaction, regretted attrition, action-plan completion)?</a:t>
            </a:r>
          </a:p>
          <a:p>
            <a:r>
              <a:t>SUC-02 [P2, Week 4] What baselines exist today for those KPIs?</a:t>
            </a:r>
          </a:p>
          <a:p>
            <a:r>
              <a:t>SUC-03 [P1, Week 2] What business case or ROI has been promised internally, and who owns benefits tracking?</a:t>
            </a:r>
          </a:p>
          <a:p>
            <a:r>
              <a:t>SUC-04 [P2, Week 8] What will the operating model look like after go-live: run-team size, skills, annual programme calendar, centre of excellence?</a:t>
            </a:r>
          </a:p>
          <a:p>
            <a:r>
              <a:t>SUC-05 [P2, Post go-live] How will content and adoption be reviewed quarterly, and who approves new use cases?</a:t>
            </a:r>
          </a:p>
          <a:p>
            <a:r>
              <a:t>SUC-06 [P3, Post go-live] What scale-up is expected in 12-24 months (countries, subsidiaries, populations)?</a:t>
            </a:r>
          </a:p>
          <a:p>
            <a:r>
              <a:t>SUC-07 [P3, Post go-live] What executive reporting cadence on EX outcomes is expected?</a:t>
            </a:r>
          </a:p>
          <a:p>
            <a:r>
              <a:t>SUC-08 [P2, Week 4] What policy governs use of results in performance, promotion or pay decisions?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SELECTION &amp; PRIORITISATION</a:t>
            </a:r>
          </a:p>
          <a:p>
            <a:r>
              <a:t>USE-01 [P1, Week 2] For each use case on the Use Case Map tab, mark Wave 1 (go-live), Phase 2, or Out of scope.</a:t>
            </a:r>
          </a:p>
          <a:p>
            <a:r>
              <a:t>USE-02 [P1, Week 2] For each in-scope use case, who is the business owner, who is the audience, and what decision will the data drive?</a:t>
            </a:r>
          </a:p>
          <a:p>
            <a:r>
              <a:t>USE-03 [P1, Week 2] If only one or two use cases could be live in 3-4 months, which would they be and why?</a:t>
            </a:r>
          </a:p>
          <a:p>
            <a:r>
              <a:t>USE-04 [P1, Week 4] Which use cases depend on SuccessFactors modules that are not yet live, and could they start with a file-based or manual trigger?</a:t>
            </a:r>
          </a:p>
          <a:p>
            <a:r>
              <a:t>USE-05 [P2, Week 4] Beyond the standard list, are there other use cases (M&amp;A integration, return-to-office, restructuring, safety culture, well-being, inclusion, SuccessFactors adoption)?</a:t>
            </a:r>
          </a:p>
          <a:p>
            <a:r>
              <a:t>USE-06 [P1, Week 4] Which populations are in scope for each use case (all employees, countries, entities, job families, new joiners, leavers, contingent workers)?</a:t>
            </a:r>
          </a:p>
          <a:p>
            <a:r>
              <a:t>USE-07 [P1, Week 4] How often must each use case run (annual, quarterly, event-triggered, always-on), and what are the blackout periods (year-end, payroll, appraisal cycles, local holidays)?</a:t>
            </a:r>
          </a:p>
          <a:p>
            <a:r>
              <a:t>USE-08 [P2, Week 8] Will one listening calendar govern engagement, pulse and lifecycle surveys, and who owns it?</a:t>
            </a:r>
          </a:p>
          <a:p>
            <a:r>
              <a:t>USE-09 [P2, Week 4] Which surveys should be tied to the SF PMGM cycle (for example 360 feedback inside the performance cycle, or a post-review pulse)?</a:t>
            </a:r>
          </a:p>
          <a:p/>
          <a:p>
            <a:r>
              <a:t>LICENSING, COMMERCIALS &amp; CONTRACTING</a:t>
            </a:r>
          </a:p>
          <a:p>
            <a:r>
              <a:t>COM-01 [P1, Week 2] How is Qualtrics EX contracted: SAP Endorsed Apps agreement, directly with Qualtrics, or via a reseller? Which products or SKUs (Engagement, Pulse, Onboarding, Exit, 360, Lifecycle, Employee Technology Experience)?</a:t>
            </a:r>
          </a:p>
          <a:p>
            <a:r>
              <a:t>COM-02 [P1, Week 2] What are the licensed participant counts per product, and the contract start date and term? Does the licence start before the build begins?</a:t>
            </a:r>
          </a:p>
          <a:p>
            <a:r>
              <a:t>COM-03 [P1, Week 2] Is the Qualtrics tenant (brand) already provisioned, and in which data centre region?</a:t>
            </a:r>
          </a:p>
          <a:p>
            <a:r>
              <a:t>COM-04 [P2, Week 4] Are AI features (Qualtrics Assist, text analytics, conversational feedback) licensed, and permitted under your internal AI policy?</a:t>
            </a:r>
          </a:p>
          <a:p>
            <a:r>
              <a:t>COM-05 [P2, Week 4] What budget is approved for implementation, change management, translation and run costs (admin effort, partner support)?</a:t>
            </a:r>
          </a:p>
          <a:p>
            <a:r>
              <a:t>COM-06 [P1, Week 2] Who is the implementation partner, and which SAP and Qualtrics contacts (account executives, solution architects) are engaged?</a:t>
            </a:r>
          </a:p>
          <a:p>
            <a:r>
              <a:t>COM-07 [P1, Week 2] What is the status of procurement, vendor risk assessment and data processing agreements for Qualtrics, and how long do these normally take?</a:t>
            </a:r>
          </a:p>
          <a:p>
            <a:r>
              <a:t>COM-08 [P2, Week 4] Are there other costs to plan for: integration middleware (SAP BTP / Integration Suite), SSO, premium support, benchmarks?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EMPLOYEE ENGAGEMENT SURVEY</a:t>
            </a:r>
          </a:p>
          <a:p>
            <a:r>
              <a:t>ENG-01 [P1, Week 4] Is there an existing engagement model or index (composite index, eNPS, drivers)? Must trend continuity with historical results be preserved?</a:t>
            </a:r>
          </a:p>
          <a:p>
            <a:r>
              <a:t>ENG-02 [P1, Week 4] Will you use the Qualtrics best-practice engagement library, a custom model, or a hybrid? Who approves final content?</a:t>
            </a:r>
          </a:p>
          <a:p>
            <a:r>
              <a:t>ENG-03 [P2, Week 4] Census or sample? What participation target do you set, and what was achieved last time?</a:t>
            </a:r>
          </a:p>
          <a:p>
            <a:r>
              <a:t>ENG-04 [P1, Week 4] Which results cuts are required (org unit, location, job level, tenure, age band, gender, manager)? What is the minimum group size for reporting?</a:t>
            </a:r>
          </a:p>
          <a:p>
            <a:r>
              <a:t>ENG-05 [P1, Week 4] Will the survey be anonymous or confidential? Will SF attributes be attached to responses, and how will employees be told?</a:t>
            </a:r>
          </a:p>
          <a:p>
            <a:r>
              <a:t>ENG-06 [P2, Week 8] Is benchmarking required (internal, industry, external)? Against which peer groups?</a:t>
            </a:r>
          </a:p>
          <a:p>
            <a:r>
              <a:t>ENG-07 [P1, Week 8] Who sees results (executives, HRBPs, all people managers), and when? What is the cascade process?</a:t>
            </a:r>
          </a:p>
          <a:p>
            <a:r>
              <a:t>ENG-08 [P1, Week 8] How will open-text comments be handled: languages, redaction of names, and escalation of sensitive content (harassment, safety)?</a:t>
            </a:r>
          </a:p>
          <a:p>
            <a:r>
              <a:t>ENG-09 [P1, Week 8] What are managers expected to do with results (action plans, deadlines, tracking)? Should plans link to SF goals or development plans?</a:t>
            </a:r>
          </a:p>
          <a:p>
            <a:r>
              <a:t>ENG-10 [P2, Week 8] What survey window and reminder pattern are planned, and how will frontline or deskless staff take part (mobile, kiosk, QR code, personal links)?</a:t>
            </a:r>
          </a:p>
          <a:p>
            <a:r>
              <a:t>ENG-11 [P2, Post go-live] Do you expect to link engagement to attrition, performance (PMGM ratings) or other HR outcomes, and is that permitted by policy and employee representatives?</a:t>
            </a:r>
          </a:p>
          <a:p/>
          <a:p>
            <a:r>
              <a:t>PULSE &amp; AD HOC LISTENING</a:t>
            </a:r>
          </a:p>
          <a:p>
            <a:r>
              <a:t>PLS-01 [P1, Week 4] Which pulse programmes do you need (always-on, quarterly, topic-based, post-event, manager pulse)?</a:t>
            </a:r>
          </a:p>
          <a:p>
            <a:r>
              <a:t>PLS-02 [P1, Week 4] Who may launch a pulse (central HR only, or delegated to HRBPs and managers)? What caps prevent fatigue (maximum surveys per employee per quarter)?</a:t>
            </a:r>
          </a:p>
          <a:p>
            <a:r>
              <a:t>PLS-03 [P2, Week 8] How will respondents be sampled (full population, random sample, rotating cohorts)?</a:t>
            </a:r>
          </a:p>
          <a:p>
            <a:r>
              <a:t>PLS-04 [P2, Week 8] Who curates the standard pulse question bank, and what is the target length (items and minutes)?</a:t>
            </a:r>
          </a:p>
          <a:p>
            <a:r>
              <a:t>PLS-05 [P1, Week 4] Which delivery channels are needed: email, SF home page or Engagement card, MS Teams, Slack, SMS, mobile, QR codes?</a:t>
            </a:r>
          </a:p>
          <a:p>
            <a:r>
              <a:t>PLS-06 [P2, Week 8] For ad hoc, event-driven pulses (restructuring, policy change, SuccessFactors go-live), what approval workflow and turnaround time are expected?</a:t>
            </a:r>
          </a:p>
          <a:p>
            <a:r>
              <a:t>PLS-07 [P2, Post go-live] Should low scores trigger real-time alerts or cases to HRBPs or managers? Which case or ticketing system would receive them?</a:t>
            </a:r>
          </a:p>
          <a:p>
            <a:r>
              <a:t>PLS-08 [P2, Week 8] Who sees pulse results, at what minimum group size, and how quickly after close?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LIFECYCLE MOMENTS: ONBOARDING, EXIT &amp; CANDIDATE</a:t>
            </a:r>
          </a:p>
          <a:p>
            <a:r>
              <a:t>LCE-01 [P1, Week 2] Which lifecycle moments are in scope: candidate, pre-boarding, Day 1 / 30 / 90 / 180, probation end, promotion, transfer, return from leave, manager change, exit (voluntary or involuntary), alumni?</a:t>
            </a:r>
          </a:p>
          <a:p>
            <a:r>
              <a:t>LCE-02 [P1, Week 2] For each moment, what is the EC trigger (hire date, position start, event reason, employment status, termination date)? Which event reasons apply?</a:t>
            </a:r>
          </a:p>
          <a:p>
            <a:r>
              <a:t>LCE-03 [P1, Week 2] Is SAP SuccessFactors Onboarding (or another tool) live at go-live? If not, what is the system of record for new-hire tasks and data?</a:t>
            </a:r>
          </a:p>
          <a:p>
            <a:r>
              <a:t>LCE-04 [P1, Week 4] What are the monthly hiring volumes by country, and what survey cadence is wanted (days since hire) for new hire, manager and buddy?</a:t>
            </a:r>
          </a:p>
          <a:p>
            <a:r>
              <a:t>LCE-05 [P1, Week 4] How should exit surveys work: which exit types are included (resignation, retirement, dismissal, contract end), and should they be sent before or after the last day?</a:t>
            </a:r>
          </a:p>
          <a:p>
            <a:r>
              <a:t>LCE-06 [P1, Week 4] After offboarding, how will leavers be reached (personal email) and what are the policy and legal limits on holding that data and on alumni contact?</a:t>
            </a:r>
          </a:p>
          <a:p>
            <a:r>
              <a:t>LCE-07 [P2, Week 8] Will a self-service survey complement or replace HR-led exit interviews? Is manager input about the leaver required?</a:t>
            </a:r>
          </a:p>
          <a:p>
            <a:r>
              <a:t>LCE-08 [P2, Week 8] Is Recruiting Management in scope and live? At which stages should candidate surveys trigger (applied, interviewed, offered, declined, hired), and what applicant-privacy limits apply?</a:t>
            </a:r>
          </a:p>
          <a:p>
            <a:r>
              <a:t>LCE-09 [P3, Post go-live] Are surveys needed for internal moves, promotions, return from leave or manager change?</a:t>
            </a:r>
          </a:p>
          <a:p>
            <a:r>
              <a:t>LCE-10 [P1, Week 4] When a new hire or leaver raises a serious issue (harassment, safety, discrimination), who is notified, how fast, and what happens to anonymity?</a:t>
            </a:r>
          </a:p>
          <a:p>
            <a:r>
              <a:t>LCE-11 [P2, Week 8] Do managers see onboarding and exit results for their teams, and under what anonymity rules?</a:t>
            </a:r>
          </a:p>
          <a:p>
            <a:r>
              <a:t>LCE-12 [P1, Week 2] How reliable are hire and termination dates, business email and manager assignment in EC today? Are back-dated, future-dated or mass-uploaded records common?</a:t>
            </a:r>
          </a:p>
          <a:p>
            <a:r>
              <a:t>LCE-13 [P2, Week 8] What annual volumes do you expect for each lifecycle type?</a:t>
            </a:r>
          </a:p>
          <a:p>
            <a:r>
              <a:t>LCE-14 [P2, Week 4] Which countries have specific rules for onboarding or exit surveys (consultation, consent, restricted data)?</a:t>
            </a:r>
          </a:p>
          <a:p/>
          <a:p>
            <a:r>
              <a:t>UPCOMING SUCCESSFACTORS MODULES &amp; SEQUENCING</a:t>
            </a:r>
          </a:p>
          <a:p>
            <a:r>
              <a:t>UPC-01 [P1, Week 2] Which SuccessFactors modules go live in the next 3-4 months (for example Recruiting, Onboarding, Learning, Succession &amp; Development, Compensation, Time, Payroll) and what are their dates? Please complete the SF Module Readiness tab.</a:t>
            </a:r>
          </a:p>
          <a:p>
            <a:r>
              <a:t>UPC-02 [P1, Week 4] For each module, does an EX use case need its data (onboarding task completion, course completion, requisition stages)? Is a manual or file-based interim acceptable?</a:t>
            </a:r>
          </a:p>
          <a:p>
            <a:r>
              <a:t>UPC-03 [P1, Week 2] Can EX requirements be fed into the design workshops of those other modules now (fields, event reasons, status codes)?</a:t>
            </a:r>
          </a:p>
          <a:p>
            <a:r>
              <a:t>UPC-04 [P1, Week 2] Which EC configuration changes are planned (new fields, org restructure, position management, event reasons) that would affect the EX data feed?</a:t>
            </a:r>
          </a:p>
          <a:p>
            <a:r>
              <a:t>UPC-05 [P2, Week 8] How will SuccessFactors half-yearly releases be handled, and what test windows apply?</a:t>
            </a:r>
          </a:p>
          <a:p>
            <a:r>
              <a:t>UPC-06 [P2, Week 4] Is the same partner implementing the other modules and Qualtrics? Where does resource overlap?</a:t>
            </a:r>
          </a:p>
          <a:p>
            <a:r>
              <a:t>UPC-07 [P1, Week 4] When do other modules cut over and hold hypercare, and how does that collide with EX testing and pilot?</a:t>
            </a:r>
          </a:p>
          <a:p>
            <a:r>
              <a:t>UPC-08 [P3, Post go-live] Is Workforce Analytics or SAC planned and should it consume EX data?</a:t>
            </a:r>
          </a:p>
          <a:p>
            <a:r>
              <a:t>UPC-09 [P1, Week 2] What is the PMGM cycle calendar (goals, reviews, calibration)? Which PMGM data (ratings, goals) may be used with survey data?</a:t>
            </a:r>
          </a:p>
          <a:p>
            <a:r>
              <a:t>UPC-10 [P2, Week 8] Are further EC rollout waves planned (new countries or entities) that will expand the EX population?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360 / MULTI-RATER FEEDBACK</a:t>
            </a:r>
          </a:p>
          <a:p>
            <a:r>
              <a:t>360-01 [P1, Week 2] Is 360 in scope for go-live? What is its purpose: development only, leadership assessment, talent-review input, or performance input?</a:t>
            </a:r>
          </a:p>
          <a:p>
            <a:r>
              <a:t>360-02 [P1, Week 2] SF PMGM is already live. Does it already run multi-rater or 360 feedback? Which tool will be the system of record for 360 (Qualtrics 360 or PMGM), and what drives the choice?</a:t>
            </a:r>
          </a:p>
          <a:p>
            <a:r>
              <a:t>360-03 [P1, Week 4] Who are the subjects (all managers, senior leaders, high potentials)? How many, and how often (annual, cycle-aligned)?</a:t>
            </a:r>
          </a:p>
          <a:p>
            <a:r>
              <a:t>360-04 [P1, Week 4] Which workflow model applies: predefined subject-evaluator pairs, subject nominates from a predefined list, or open nomination? Is manager approval of raters required?</a:t>
            </a:r>
          </a:p>
          <a:p>
            <a:r>
              <a:t>360-05 [P1, Week 4] Which rater categories (manager, peers, direct reports, skip-level, customers, external) and what minimum raters per category before results show?</a:t>
            </a:r>
          </a:p>
          <a:p>
            <a:r>
              <a:t>360-06 [P2, Week 8] Should the project run in waves (nominations, evaluations, report release), and how long should each wave last?</a:t>
            </a:r>
          </a:p>
          <a:p>
            <a:r>
              <a:t>360-07 [P1, Week 4] Is there a leadership competency model? How many competencies and items, which rating scale, which open-ended questions, which scoring categories, and which translations?</a:t>
            </a:r>
          </a:p>
          <a:p>
            <a:r>
              <a:t>360-08 [P1, Week 4] How will subject and evaluator data be derived from EC: reporting lines, dotted-line or matrix managers, project teams?</a:t>
            </a:r>
          </a:p>
          <a:p>
            <a:r>
              <a:t>360-09 [P2, Week 8] What should subject reports contain, and who sees them (subject, manager, HRBP, coach)? Are norm groups or benchmarks needed?</a:t>
            </a:r>
          </a:p>
          <a:p>
            <a:r>
              <a:t>360-10 [P2, Week 8] How do 360 results flow to development plans (SF Succession &amp; Development, Learning) or stay outside SF?</a:t>
            </a:r>
          </a:p>
          <a:p>
            <a:r>
              <a:t>360-11 [P2, Week 8] Who writes invitation and reminder messages, in which languages, and who coaches subjects on results?</a:t>
            </a:r>
          </a:p>
          <a:p>
            <a:r>
              <a:t>360-12 [P2, Week 8] Are external evaluators (customers, vendors) or contingent workers included, and how is their data handled?</a:t>
            </a:r>
          </a:p>
          <a:p>
            <a:r>
              <a:t>360-13 [P1, Week 4] May 360 results be used in talent, promotion or pay decisions? What do the legal team and employee representatives say?</a:t>
            </a:r>
          </a:p>
          <a:p>
            <a:r>
              <a:t>360-14 [P2, Week 8] Which subjects will pilot, and when? What success criteria would let you scale?</a:t>
            </a:r>
          </a:p>
          <a:p/>
          <a:p>
            <a:r>
              <a:t>MANAGER EFFECTIVENESS &amp; ACTION PLANNING</a:t>
            </a:r>
          </a:p>
          <a:p>
            <a:r>
              <a:t>MGR-01 [P2, Week 4] Is manager effectiveness a named use case (upward feedback, manager pulse, manager scorecard)?</a:t>
            </a:r>
          </a:p>
          <a:p>
            <a:r>
              <a:t>MGR-02 [P1, Week 4] What must managers do after results arrive: required action plans, deadlines, tracking and nudges?</a:t>
            </a:r>
          </a:p>
          <a:p>
            <a:r>
              <a:t>MGR-03 [P2, Week 8] Do you have manager development content (internal or from Qualtrics) to recommend alongside results? Should it link to SF Learning?</a:t>
            </a:r>
          </a:p>
          <a:p>
            <a:r>
              <a:t>MGR-04 [P1, Week 4] How is a manager defined for reporting (direct reports, full hierarchy roll-up, matrix)? What happens when a manager has fewer reports than the minimum group size?</a:t>
            </a:r>
          </a:p>
          <a:p>
            <a:r>
              <a:t>MGR-05 [P2, Week 8] What follow-up applies to low-scoring teams (HRBP involvement, targeted support)?</a:t>
            </a:r>
          </a:p>
          <a:p>
            <a:r>
              <a:t>MGR-06 [P2, Post go-live] Who tracks action-plan completion, and how is it reported to executives?</a:t>
            </a:r>
          </a:p>
          <a:p>
            <a:r>
              <a:t>MGR-07 [P2, Post go-live] Should action plans link to SF goals, PMGM or development plans?</a:t>
            </a:r>
          </a:p>
          <a:p>
            <a:r>
              <a:t>MGR-08 [P1, Week 4] How many managers need access, and will they use dashboards (SSO) or receive PDFs or emails?</a:t>
            </a:r>
          </a:p>
          <a:p>
            <a:r>
              <a:t>MGR-09 [P2, Week 8] Who will train managers to read results and run team discussions? Are conversation guides needed?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EMPLOYEE TECHNOLOGY EXPERIENCE</a:t>
            </a:r>
          </a:p>
          <a:p>
            <a:r>
              <a:t>ETX-01 [P2, Week 4] Is Employee Technology Experience in scope? Which tools and services (laptops, VPN, collaboration, service desk, SuccessFactors itself)?</a:t>
            </a:r>
          </a:p>
          <a:p>
            <a:r>
              <a:t>ETX-02 [P2, Week 4] Who owns it (CIO, service desk, digital workplace) and is there sponsor and budget?</a:t>
            </a:r>
          </a:p>
          <a:p>
            <a:r>
              <a:t>ETX-03 [P2, Week 8] Which ITSM or ticketing tool is in use (ServiceNow, Jira, other)? Should low scores create tickets?</a:t>
            </a:r>
          </a:p>
          <a:p>
            <a:r>
              <a:t>ETX-04 [P2, Week 8] What triggers these surveys: ticket closure, device refresh, a new SF release, or a periodic cycle?</a:t>
            </a:r>
          </a:p>
          <a:p>
            <a:r>
              <a:t>ETX-05 [P1, Week 4] Do you want to measure employee and manager experience of SuccessFactors itself (EC self-service, PMGM, new modules) right after go-live?</a:t>
            </a:r>
          </a:p>
          <a:p>
            <a:r>
              <a:t>ETX-06 [P3, Post go-live] Is device, location or application data beyond EC needed for segmentation?</a:t>
            </a:r>
          </a:p>
          <a:p>
            <a:r>
              <a:t>ETX-07 [P3, Post go-live] Which technology KPIs are targeted (satisfaction, effort, time-to-resolve)?</a:t>
            </a:r>
          </a:p>
          <a:p/>
          <a:p>
            <a:r>
              <a:t>SURVEY CONTENT, SCALES &amp; LANGUAGES</a:t>
            </a:r>
          </a:p>
          <a:p>
            <a:r>
              <a:t>SUR-01 [P1, Week 4] Which languages are required per use case? What is the source language, translation method (human, machine plus review) and who validates?</a:t>
            </a:r>
          </a:p>
          <a:p>
            <a:r>
              <a:t>SUR-02 [P1, Week 4] Which rating scales and wording standards must be used (5, 7 or 10 point, agree/disagree, eNPS) to stay comparable with history?</a:t>
            </a:r>
          </a:p>
          <a:p>
            <a:r>
              <a:t>SUR-03 [P1, Week 4] Which demographic attributes come from SF (hidden metadata) and which are asked? Are any categories restricted in certain countries (gender, ethnicity, age, disability)?</a:t>
            </a:r>
          </a:p>
          <a:p>
            <a:r>
              <a:t>SUR-04 [P1, Week 4] What privacy notice, consent text and mandatory statements must appear on each survey?</a:t>
            </a:r>
          </a:p>
          <a:p>
            <a:r>
              <a:t>SUR-05 [P2, Week 8] What branding is required (logo, colours, tone) and which accessibility standard (for example WCAG) must surveys meet?</a:t>
            </a:r>
          </a:p>
          <a:p>
            <a:r>
              <a:t>SUR-06 [P2, Week 8] What accessibility needs exist (screen readers, low bandwidth, shift workers, kiosks)?</a:t>
            </a:r>
          </a:p>
          <a:p>
            <a:r>
              <a:t>SUR-07 [P2, Week 4] What survey length targets apply, and who signs off on content?</a:t>
            </a:r>
          </a:p>
          <a:p>
            <a:r>
              <a:t>SUR-08 [P1, Week 4] Will you use Qualtrics best-practice libraries (engagement, onboarding, exit, 360, well-being, candidate) as the baseline, and how much customisation is allowed?</a:t>
            </a:r>
          </a:p>
          <a:p>
            <a:r>
              <a:t>SUR-09 [P3, Week 8] Which scoring conventions apply (favourable %, mean, top-box)?</a:t>
            </a:r>
          </a:p>
          <a:p>
            <a:r>
              <a:t>SUR-10 [P3, Week 8] Would you accept AI-assisted follow-up questions on vague comments (conversational feedback)?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SUCCESSFACTORS INTEGRATION &amp; ARCHITECTURE</a:t>
            </a:r>
          </a:p>
          <a:p>
            <a:r>
              <a:t>INT-01 [P1, Week 2] Describe the SuccessFactors landscape: instances (test, preview, production), data centre, EC release status, identity provider and SSO.</a:t>
            </a:r>
          </a:p>
          <a:p>
            <a:r>
              <a:t>INT-02 [P1, Week 2] What is the preferred method for sending EC employee data to Qualtrics: pre-packaged SF extension, SFTP file, API or Integration Center, or SAP BTP Integration Suite? Any constraints?</a:t>
            </a:r>
          </a:p>
          <a:p>
            <a:r>
              <a:t>INT-03 [P1, Week 2] Do you have SAP BTP / Integration Suite today? Who has the skills and capacity to build and run the integration?</a:t>
            </a:r>
          </a:p>
          <a:p>
            <a:r>
              <a:t>INT-04 [P1, Week 4] How often must data sync (daily full, daily delta, near real time)? Which fields need near-real-time updates (hire for onboarding, termination for exit)?</a:t>
            </a:r>
          </a:p>
          <a:p>
            <a:r>
              <a:t>INT-05 [P1, Week 4] How will EC events (hire, transfer, termination) trigger surveys: SF Intelligent Services events, Integration Center, or scheduled delta files? Is Intelligent Services enabled?</a:t>
            </a:r>
          </a:p>
          <a:p>
            <a:r>
              <a:t>INT-06 [P2, Week 8] Do surveys need to appear inside SF (home page tile, Engagement card, mobile app)? On which SF home page version?</a:t>
            </a:r>
          </a:p>
          <a:p>
            <a:r>
              <a:t>INT-07 [P2, Post go-live] Should results or action plans flow back to SF (development plans, goals, talent profile) or to a data warehouse (SAC, Datasphere, BW)?</a:t>
            </a:r>
          </a:p>
          <a:p>
            <a:r>
              <a:t>INT-08 [P1, Week 2] Which identity standard will be used for employee access (SAML or OIDC, which IdP)? What is the fallback for employees without SSO?</a:t>
            </a:r>
          </a:p>
          <a:p>
            <a:r>
              <a:t>INT-09 [P1, Week 4] How many Qualtrics sandbox and production environments are needed, how often is SF preview refreshed, and what is the policy on test data (anonymised or real)?</a:t>
            </a:r>
          </a:p>
          <a:p>
            <a:r>
              <a:t>INT-10 [P1, Week 4] What API user, OAuth, IP allow-list and permission roles will the integration need, and who approves them?</a:t>
            </a:r>
          </a:p>
          <a:p>
            <a:r>
              <a:t>INT-11 [P2, Week 8] Who monitors failed syncs, how will alerts be raised, and what SLA is expected?</a:t>
            </a:r>
          </a:p>
          <a:p>
            <a:r>
              <a:t>INT-12 [P1, Week 2] What architecture-board approvals and change-freeze windows apply in the next four months?</a:t>
            </a:r>
          </a:p>
          <a:p>
            <a:r>
              <a:t>INT-13 [P2, Week 8] Is data needed from outside EC (Employee Central Payroll, time tracking, ITSM, other HR systems)?</a:t>
            </a:r>
          </a:p>
          <a:p>
            <a:r>
              <a:t>INT-14 [P1, Week 4] Do firewalls or mail filters need allow-listing for Qualtrics survey links? How is email deliverability handled (sender domain, SPF, DKIM)?</a:t>
            </a:r>
          </a:p>
          <a:p>
            <a:r>
              <a:t>INT-15 [P3, Post go-live] Do People Analytics or Workforce Analytics pipelines need to consume EX data?</a:t>
            </a:r>
          </a:p>
          <a:p/>
          <a:p>
            <a:r>
              <a:t>EMPLOYEE DATA, HIERARCHY &amp; ATTRIBUTES</a:t>
            </a:r>
          </a:p>
          <a:p>
            <a:r>
              <a:t>DAT-01 [P1, Week 2] Which EC fields are needed in Qualtrics (person, employment, job, organisation: legal entity, business unit, division, department, location, cost centre, job family, level, manager, position)? Please complete the Data Inventory tab.</a:t>
            </a:r>
          </a:p>
          <a:p>
            <a:r>
              <a:t>DAT-02 [P1, Week 2] How complete and trusted is EC data (manager, email, location, job level)? Which known gaps exist?</a:t>
            </a:r>
          </a:p>
          <a:p>
            <a:r>
              <a:t>DAT-03 [P1, Week 2] Which organisational structure drives reporting (reporting line or organisation units)? How many levels and units exist?</a:t>
            </a:r>
          </a:p>
          <a:p>
            <a:r>
              <a:t>DAT-04 [P1, Week 4] How are matrix, dotted-line, concurrent employment, global assignments and secondments handled? Which manager and organisation does each person report under?</a:t>
            </a:r>
          </a:p>
          <a:p>
            <a:r>
              <a:t>DAT-05 [P1, Week 4] Which demographic attributes exist in EC and are approved for survey analysis (gender, age band, tenure, nationality, and so on)?</a:t>
            </a:r>
          </a:p>
          <a:p>
            <a:r>
              <a:t>DAT-06 [P1, Week 4] Who is eligible to be surveyed: active, on leave, notice period, contingent, part-time, future hires? What are the exclusion rules?</a:t>
            </a:r>
          </a:p>
          <a:p>
            <a:r>
              <a:t>DAT-07 [P1, Week 4] What contact data is available: business email coverage, personal email, mobile number for deskless staff, preferred language?</a:t>
            </a:r>
          </a:p>
          <a:p>
            <a:r>
              <a:t>DAT-08 [P2, Week 8] Where should derived attributes (tenure band, age band, span of control) be calculated: EC, middleware or Qualtrics?</a:t>
            </a:r>
          </a:p>
          <a:p>
            <a:r>
              <a:t>DAT-09 [P2, Week 8] Is there historical survey data or historical organisation snapshots to load for trend reporting? Format, volume and quality?</a:t>
            </a:r>
          </a:p>
          <a:p>
            <a:r>
              <a:t>DAT-10 [P1, Week 4] What retention periods apply per use case? How are leavers' data deletion and erasure requests handled?</a:t>
            </a:r>
          </a:p>
          <a:p>
            <a:r>
              <a:t>DAT-11 [P1, Week 2] Are reorganisations planned between now and go-live, and how will hierarchy changes during a survey window be handled (snapshot or live)?</a:t>
            </a:r>
          </a:p>
          <a:p>
            <a:r>
              <a:t>DAT-12 [P1, Week 2] Which unique identifier will be the key between EC and Qualtrics (person ID, user ID), and how will pseudonymisation be handled?</a:t>
            </a:r>
          </a:p>
          <a:p>
            <a:r>
              <a:t>DAT-13 [P2, Week 4] Are there entities or populations not on EC (acquisitions, joint ventures, contractors)? Should they be included and from which source?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REPORTING, DASHBOARDS &amp; ANALYTICS (INCL. AI)</a:t>
            </a:r>
          </a:p>
          <a:p>
            <a:r>
              <a:t>RPT-01 [P1, Week 4] Which reporting audiences exist (executives, HRBPs, managers, employees, People Analytics) and what does each need to see?</a:t>
            </a:r>
          </a:p>
          <a:p>
            <a:r>
              <a:t>RPT-02 [P2, Week 8] Which dashboard types are must-have: executive overview, manager dashboard, heat map, driver analysis, comparison, trend?</a:t>
            </a:r>
          </a:p>
          <a:p>
            <a:r>
              <a:t>RPT-03 [P2, Week 8] How will reports be distributed: dashboard login, scheduled email, PDF, embedded in SF?</a:t>
            </a:r>
          </a:p>
          <a:p>
            <a:r>
              <a:t>RPT-04 [P2, Week 8] Who needs live response-rate tracking and at what granularity (without identifying respondents)?</a:t>
            </a:r>
          </a:p>
          <a:p>
            <a:r>
              <a:t>RPT-05 [P1, Week 4] Which text analytics and AI summaries (Qualtrics Assist) are in scope, in which languages, and do Legal and employee representatives approve them?</a:t>
            </a:r>
          </a:p>
          <a:p>
            <a:r>
              <a:t>RPT-06 [P1, Week 4] Will survey data be combined with SF data (turnover, PMGM performance rating, promotion, tenure) for analysis? What safeguards apply?</a:t>
            </a:r>
          </a:p>
          <a:p>
            <a:r>
              <a:t>RPT-07 [P2, Week 8] Which internal targets and external benchmarks apply?</a:t>
            </a:r>
          </a:p>
          <a:p>
            <a:r>
              <a:t>RPT-08 [P2, Week 8] Do reports need local-language labels or corporate templates?</a:t>
            </a:r>
          </a:p>
          <a:p>
            <a:r>
              <a:t>RPT-09 [P2, Post go-live] Will raw data go to a data warehouse or People Analytics, how often, and who holds access?</a:t>
            </a:r>
          </a:p>
          <a:p>
            <a:r>
              <a:t>RPT-10 [P2, Week 8] What accessibility and mobile support is needed for dashboards?</a:t>
            </a:r>
          </a:p>
          <a:p>
            <a:r>
              <a:t>RPT-11 [P2, Week 4] Which custom metrics (eNPS, engagement index composition, attrition-risk index) need agreed definitions and owners?</a:t>
            </a:r>
          </a:p>
          <a:p/>
          <a:p>
            <a:r>
              <a:t>ROLES, ACCESS &amp; GOVERNANCE</a:t>
            </a:r>
          </a:p>
          <a:p>
            <a:r>
              <a:t>ROL-01 [P1, Week 2] Who will be Brand Administrators and who will be EX project administrators? Brand Administrators have full platform access including the directory; Employee Insights Administrators can build projects but cannot access the directory or admin page.</a:t>
            </a:r>
          </a:p>
          <a:p>
            <a:r>
              <a:t>ROL-02 [P1, Week 4] Define viewer roles (executives, HRBPs, managers, regional HR, employee representatives) and map each to hierarchy-based access.</a:t>
            </a:r>
          </a:p>
          <a:p>
            <a:r>
              <a:t>ROL-03 [P1, Week 4] Who can create and launch surveys, approve content and release results? What approval chain and SLA apply?</a:t>
            </a:r>
          </a:p>
          <a:p>
            <a:r>
              <a:t>ROL-04 [P1, Week 4] Who may see raw comments or respondent-level data? What segregation of duties applies between administrators, HRBPs and IT?</a:t>
            </a:r>
          </a:p>
          <a:p>
            <a:r>
              <a:t>ROL-05 [P2, Week 8] Will joiner-mover-leaver access be automated from SF roles or managed manually?</a:t>
            </a:r>
          </a:p>
          <a:p>
            <a:r>
              <a:t>ROL-06 [P1, Week 2] Which governance body oversees EX (steering committee, content council, privacy officer)? How often does it meet?</a:t>
            </a:r>
          </a:p>
          <a:p>
            <a:r>
              <a:t>ROL-07 [P2, Week 8] What support model is expected (employee help, administrators, vendor) and in which languages and hours?</a:t>
            </a:r>
          </a:p>
          <a:p>
            <a:r>
              <a:t>ROL-08 [P2, Post go-live] How will changes to surveys and participant data after launch be documented and audited?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SECURITY, PRIVACY &amp; COMPLIANCE</a:t>
            </a:r>
          </a:p>
          <a:p>
            <a:r>
              <a:t>SEC-01 [P1, Week 2] Where must employee data be stored and processed? Are there restrictions on cross-border transfer (EU, India, China, Middle East, other)?</a:t>
            </a:r>
          </a:p>
          <a:p>
            <a:r>
              <a:t>SEC-02 [P1, Week 2] Has a DPIA or privacy impact assessment been done or required? Who is the DPO and when must they be consulted?</a:t>
            </a:r>
          </a:p>
          <a:p>
            <a:r>
              <a:t>SEC-03 [P1, Week 2] Which countries require works council, union or employee representative consultation, and what are the lead times?</a:t>
            </a:r>
          </a:p>
          <a:p>
            <a:r>
              <a:t>SEC-04 [P1, Week 4] What anonymity commitments apply: minimum group size, suppression of small groups, comment redaction, and who approves exceptions?</a:t>
            </a:r>
          </a:p>
          <a:p>
            <a:r>
              <a:t>SEC-05 [P1, Week 4] What is the legal basis (legitimate interest or consent) and the required privacy notice wording for each country?</a:t>
            </a:r>
          </a:p>
          <a:p>
            <a:r>
              <a:t>SEC-06 [P1, Week 4] Which EC attributes are classified sensitive or restricted? Are any prohibited from leaving EC?</a:t>
            </a:r>
          </a:p>
          <a:p>
            <a:r>
              <a:t>SEC-07 [P1, Week 4] What SSO, MFA, session, admin-access and IP-restriction policies apply?</a:t>
            </a:r>
          </a:p>
          <a:p>
            <a:r>
              <a:t>SEC-08 [P1, Week 2] What security evidence is required from the vendor (certifications, pen-test reports, sub-processor list)? Where does the review stand?</a:t>
            </a:r>
          </a:p>
          <a:p>
            <a:r>
              <a:t>SEC-09 [P2, Week 8] How are data subject access requests involving survey data handled?</a:t>
            </a:r>
          </a:p>
          <a:p>
            <a:r>
              <a:t>SEC-10 [P1, Week 4] What is your protocol for sensitive disclosures in comments (harassment, safety, wellbeing risk): duty of care, escalation path, limits of anonymity?</a:t>
            </a:r>
          </a:p>
          <a:p>
            <a:r>
              <a:t>SEC-11 [P2, Week 8] What audit logging is required (who accessed which results) and how will logs be exported?</a:t>
            </a:r>
          </a:p>
          <a:p>
            <a:r>
              <a:t>SEC-12 [P1, Week 4] Has Legal assessed AI-based analysis of employee data (sentiment, attrition prediction) under internal AI policy and applicable regulation, including EU AI Act treatment of employment-related AI?</a:t>
            </a:r>
          </a:p>
          <a:p/>
          <a:p>
            <a:r>
              <a:t>COMMUNICATIONS, CHANGE &amp; ADOPTION</a:t>
            </a:r>
          </a:p>
          <a:p>
            <a:r>
              <a:t>CMM-01 [P1, Week 4] Who sends invitations (executive, HR, manager), from which sender name and email domain, over which channels?</a:t>
            </a:r>
          </a:p>
          <a:p>
            <a:r>
              <a:t>CMM-02 [P1, Week 4] Is Internal Communications engaged, and which channels exist (intranet, Teams, town halls, posters for frontline staff)?</a:t>
            </a:r>
          </a:p>
          <a:p>
            <a:r>
              <a:t>CMM-03 [P1, Week 4] What employee-facing FAQ and privacy message will explain what happens to results?</a:t>
            </a:r>
          </a:p>
          <a:p>
            <a:r>
              <a:t>CMM-04 [P2, Week 8] What reminder cadence and tone are planned, and will managers receive response-rate nudges?</a:t>
            </a:r>
          </a:p>
          <a:p>
            <a:r>
              <a:t>CMM-05 [P2, Week 8] What toolkit will managers receive to explain the survey and discuss results?</a:t>
            </a:r>
          </a:p>
          <a:p>
            <a:r>
              <a:t>CMM-06 [P1, Week 8] How and when will you communicate what changed as a result (you said, we did), and who owns it?</a:t>
            </a:r>
          </a:p>
          <a:p>
            <a:r>
              <a:t>CMM-07 [P2, Week 4] What changes for HR, managers and employees, who might resist, and what training is needed?</a:t>
            </a:r>
          </a:p>
          <a:p>
            <a:r>
              <a:t>CMM-08 [P2, Week 8] What training is planned for administrators, HRBPs and managers (formats, lead times)?</a:t>
            </a:r>
          </a:p>
          <a:p>
            <a:r>
              <a:t>CMM-09 [P1, Week 4] Which other surveys, campaigns or SuccessFactors go-live communications run in the same period, and how will they be coordinated?</a:t>
            </a:r>
          </a:p>
          <a:p>
            <a:r>
              <a:t>CMM-10 [P2, Week 8] What local-language adaptation is needed for communications by country?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decision links to a question ID in the questionnaire.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Monday 2 November 2026. W14 starts 1 February 2027. Year-end holidays typically remove one to two weeks of capacity; adjust to regional calendars.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estimates; replace with the client's view. Full register in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named owners and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tif large"/>
          <p:cNvSpPr/>
          <p:nvPr/>
        </p:nvSpPr>
        <p:spPr>
          <a:xfrm>
            <a:off x="8412480" y="-1097280"/>
            <a:ext cx="5943600" cy="5943600"/>
          </a:xfrm>
          <a:prstGeom prst="ellipse">
            <a:avLst/>
          </a:prstGeom>
          <a:solidFill>
            <a:srgbClr val="1E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 small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31520" y="15544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A541"/>
                </a:solidFill>
                <a:latin typeface="Calibri"/>
              </a:rPr>
              <a:t>SAP SUCCESSFACTORS + QUALTRICS EMPLOYEE EXPERIENCE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Scoping workshop and questionnaire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31520" y="411480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What we need to learn to go live in 3-4 months, with Employee Central and PMGM already live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731520" y="56692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5B1"/>
                </a:solidFill>
                <a:latin typeface="Calibri"/>
              </a:rPr>
              <a:t>[Client name]  |  [Consultant / firm]  |  28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We start from a strong base, and a short runway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5" name="Stat card 1"/>
          <p:cNvSpPr/>
          <p:nvPr/>
        </p:nvSpPr>
        <p:spPr>
          <a:xfrm>
            <a:off x="548640" y="150876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1B998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modules already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Calibri"/>
              </a:rPr>
              <a:t>Employee Central and Performance &amp; Goals (PMGM)</a:t>
            </a:r>
          </a:p>
        </p:txBody>
      </p:sp>
      <p:sp>
        <p:nvSpPr>
          <p:cNvPr id="9" name="Stat card 2"/>
          <p:cNvSpPr/>
          <p:nvPr/>
        </p:nvSpPr>
        <p:spPr>
          <a:xfrm>
            <a:off x="4297679" y="150876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6459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1B998B"/>
                </a:solidFill>
                <a:latin typeface="Calibri"/>
              </a:rPr>
              <a:t>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974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months to go-live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154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Calibri"/>
              </a:rPr>
              <a:t>Late January to February 2027</a:t>
            </a:r>
          </a:p>
        </p:txBody>
      </p:sp>
      <p:sp>
        <p:nvSpPr>
          <p:cNvPr id="13" name="Stat card 3"/>
          <p:cNvSpPr/>
          <p:nvPr/>
        </p:nvSpPr>
        <p:spPr>
          <a:xfrm>
            <a:off x="8046719" y="150876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1B998B"/>
                </a:solidFill>
                <a:latin typeface="Calibri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questions in 19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573"/>
                </a:solidFill>
                <a:latin typeface="Calibri"/>
              </a:rPr>
              <a:t>84 kick-off questions come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Calibri"/>
              </a:rPr>
              <a:t>What this workshop must settle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Which use cases go live first, for whom, and who owns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5720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50292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Which Employee Central data and events feed Qualtrics, and how clean they 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45720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0292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Security, privacy, consultation and module dependencies that could move the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Discovery runs in four steps over two weeks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sp>
        <p:nvSpPr>
          <p:cNvPr id="5" name="Step card 1"/>
          <p:cNvSpPr/>
          <p:nvPr/>
        </p:nvSpPr>
        <p:spPr>
          <a:xfrm>
            <a:off x="548640" y="164592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685800" cy="6858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Calibri"/>
              </a:rPr>
              <a:t>Decide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Mark every use case Wave 1, Phase 2 or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17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Day 1-2</a:t>
            </a:r>
          </a:p>
        </p:txBody>
      </p:sp>
      <p:sp>
        <p:nvSpPr>
          <p:cNvPr id="10" name="Step card 2"/>
          <p:cNvSpPr/>
          <p:nvPr/>
        </p:nvSpPr>
        <p:spPr>
          <a:xfrm>
            <a:off x="3383280" y="164592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1874519"/>
            <a:ext cx="685800" cy="6858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Calibri"/>
              </a:rPr>
              <a:t>Kick-off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918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Answer the 84 starred questions with sponsor, HRIS and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617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Week 1</a:t>
            </a:r>
          </a:p>
        </p:txBody>
      </p:sp>
      <p:sp>
        <p:nvSpPr>
          <p:cNvPr id="15" name="Step card 3"/>
          <p:cNvSpPr/>
          <p:nvPr/>
        </p:nvSpPr>
        <p:spPr>
          <a:xfrm>
            <a:off x="6217920" y="164592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1874519"/>
            <a:ext cx="685800" cy="6858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Calibri"/>
              </a:rPr>
              <a:t>Deep dives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Integration and data, privacy and legal, content and 360, comms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617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Week 1-2</a:t>
            </a:r>
          </a:p>
        </p:txBody>
      </p:sp>
      <p:sp>
        <p:nvSpPr>
          <p:cNvPr id="20" name="Step card 4"/>
          <p:cNvSpPr/>
          <p:nvPr/>
        </p:nvSpPr>
        <p:spPr>
          <a:xfrm>
            <a:off x="9052560" y="164592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1874519"/>
            <a:ext cx="685800" cy="6858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Calibri"/>
              </a:rPr>
              <a:t>Validate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918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Confirm the 16-week plan, risks and Wave 1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617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5B6573"/>
                </a:solidFill>
                <a:latin typeface="Calibri"/>
              </a:rPr>
              <a:t>Questions carry a priority (P1 must answer) and a needed-by week, so the team can answer in the order that unblocks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Eleven use cases compete for the same window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4</a:t>
            </a:r>
          </a:p>
        </p:txBody>
      </p:sp>
      <p:sp>
        <p:nvSpPr>
          <p:cNvPr id="5" name="Use case 1"/>
          <p:cNvSpPr/>
          <p:nvPr/>
        </p:nvSpPr>
        <p:spPr>
          <a:xfrm>
            <a:off x="548640" y="146304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Annual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High</a:t>
            </a:r>
          </a:p>
        </p:txBody>
      </p:sp>
      <p:sp>
        <p:nvSpPr>
          <p:cNvPr id="8" name="Use case 2"/>
          <p:cNvSpPr/>
          <p:nvPr/>
        </p:nvSpPr>
        <p:spPr>
          <a:xfrm>
            <a:off x="3383280" y="146304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Pulse &amp; Ad Hoc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High</a:t>
            </a:r>
          </a:p>
        </p:txBody>
      </p:sp>
      <p:sp>
        <p:nvSpPr>
          <p:cNvPr id="11" name="Use case 3"/>
          <p:cNvSpPr/>
          <p:nvPr/>
        </p:nvSpPr>
        <p:spPr>
          <a:xfrm>
            <a:off x="6217920" y="146304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Medium-High</a:t>
            </a:r>
          </a:p>
        </p:txBody>
      </p:sp>
      <p:sp>
        <p:nvSpPr>
          <p:cNvPr id="14" name="Use case 4"/>
          <p:cNvSpPr/>
          <p:nvPr/>
        </p:nvSpPr>
        <p:spPr>
          <a:xfrm>
            <a:off x="9052560" y="146304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Exit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Medium-High</a:t>
            </a:r>
          </a:p>
        </p:txBody>
      </p:sp>
      <p:sp>
        <p:nvSpPr>
          <p:cNvPr id="17" name="Use case 5"/>
          <p:cNvSpPr/>
          <p:nvPr/>
        </p:nvSpPr>
        <p:spPr>
          <a:xfrm>
            <a:off x="548640" y="301752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4679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Candidate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48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Fit: Low-Medium</a:t>
            </a:r>
          </a:p>
        </p:txBody>
      </p:sp>
      <p:sp>
        <p:nvSpPr>
          <p:cNvPr id="20" name="Use case 6"/>
          <p:cNvSpPr/>
          <p:nvPr/>
        </p:nvSpPr>
        <p:spPr>
          <a:xfrm>
            <a:off x="3383280" y="301752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154679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360 / Multi-Rater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931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Fit: Medium</a:t>
            </a:r>
          </a:p>
        </p:txBody>
      </p:sp>
      <p:sp>
        <p:nvSpPr>
          <p:cNvPr id="23" name="Use case 7"/>
          <p:cNvSpPr/>
          <p:nvPr/>
        </p:nvSpPr>
        <p:spPr>
          <a:xfrm>
            <a:off x="6217920" y="301752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79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Manager Effectiveness &amp; Action Planning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Medium-High</a:t>
            </a:r>
          </a:p>
        </p:txBody>
      </p:sp>
      <p:sp>
        <p:nvSpPr>
          <p:cNvPr id="26" name="Use case 8"/>
          <p:cNvSpPr/>
          <p:nvPr/>
        </p:nvSpPr>
        <p:spPr>
          <a:xfrm>
            <a:off x="9052560" y="301752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154679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Employee Technology Experience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931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Fit: Medium</a:t>
            </a:r>
          </a:p>
        </p:txBody>
      </p:sp>
      <p:sp>
        <p:nvSpPr>
          <p:cNvPr id="29" name="Use case 9"/>
          <p:cNvSpPr/>
          <p:nvPr/>
        </p:nvSpPr>
        <p:spPr>
          <a:xfrm>
            <a:off x="548640" y="457200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Internal Moves &amp; Return from Leave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48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Fit: Low-Medium</a:t>
            </a:r>
          </a:p>
        </p:txBody>
      </p:sp>
      <p:sp>
        <p:nvSpPr>
          <p:cNvPr id="32" name="Use case 10"/>
          <p:cNvSpPr/>
          <p:nvPr/>
        </p:nvSpPr>
        <p:spPr>
          <a:xfrm>
            <a:off x="3383280" y="457200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7091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Well-Being &amp; Inclusion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5486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Fit: Medium</a:t>
            </a:r>
          </a:p>
        </p:txBody>
      </p:sp>
      <p:sp>
        <p:nvSpPr>
          <p:cNvPr id="35" name="Use case 11"/>
          <p:cNvSpPr/>
          <p:nvPr/>
        </p:nvSpPr>
        <p:spPr>
          <a:xfrm>
            <a:off x="6217920" y="457200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0916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Change &amp; Project Pulses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486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66344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Fit for a 3-4 month window (hypothesis). Needs EC data only = high; depends on modules not yet live = lower.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Starting hypothesis: build the foundation, launch the quick wins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59436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Wave 1: go-live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Integration, directory, hierarchy, roles, anonymity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Engagement or 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Needs Employee Central data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074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Onboarding and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Triggered by EC hire and termination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1324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SF adoption pulse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Quick win right after SuccessFactors go-live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440680" cy="5943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4213D"/>
                </a:solidFill>
                <a:latin typeface="Calibri"/>
              </a:rPr>
              <a:t>Phase 2: follow-on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95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360 / Multi-rater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Needs competency model and a decision against PMGM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4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Candidate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Depends on Recruiting being 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976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4074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Technology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ITSM integration and owner outside HR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30352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41324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Internal moves, well-being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806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Proven triggers and legal review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Illustrative architecture: Employee Central feeds Qualtrics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743200" cy="29260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SuccessFactors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FFFFFF"/>
                </a:solidFill>
                <a:latin typeface="Calibri"/>
              </a:rPr>
              <a:t>Employee Central (live)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PMGM (live)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Hire, transfer, termination events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Org, manager, location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2697480"/>
            <a:ext cx="457200" cy="411480"/>
          </a:xfrm>
          <a:prstGeom prst="rightArrow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60" y="1463040"/>
            <a:ext cx="2651760" cy="2926080"/>
          </a:xfrm>
          <a:prstGeom prst="roundRect">
            <a:avLst>
              <a:gd name="adj" fmla="val 6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2286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FFFFFF"/>
                </a:solidFill>
                <a:latin typeface="Calibri"/>
              </a:rPr>
              <a:t>Pre-packaged extension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SFTP or API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SAP BTP Integration Suite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Daily or event-driven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2280" y="2697480"/>
            <a:ext cx="457200" cy="411480"/>
          </a:xfrm>
          <a:prstGeom prst="rightArrow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1463040"/>
            <a:ext cx="4206240" cy="2926080"/>
          </a:xfrm>
          <a:prstGeom prst="roundRect">
            <a:avLst>
              <a:gd name="adj" fmla="val 6000"/>
            </a:avLst>
          </a:prstGeom>
          <a:solidFill>
            <a:srgbClr val="1E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600200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Qualtrics Employee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011680"/>
            <a:ext cx="38404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FFFFFF"/>
                </a:solidFill>
                <a:latin typeface="Calibri"/>
              </a:rPr>
              <a:t>Directory and hierarchy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Engagement, Pulse, Onboarding, Exit, 360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Dashboards, text analytics, action planning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Role-based access by hierarchy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6126480" cy="14630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421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Upcoming SuccessFactors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79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14213D"/>
                </a:solidFill>
                <a:latin typeface="Calibri"/>
              </a:rPr>
              <a:t/>
            </a:r>
            <a:r>
              <a:rPr sz="1400" b="0" i="0">
                <a:solidFill>
                  <a:srgbClr val="14213D"/>
                </a:solidFill>
                <a:latin typeface="Calibri"/>
              </a:rPr>
              <a:t>Recruiting, Onboarding, Learning, Succession, Compensation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14213D"/>
                </a:solidFill>
                <a:latin typeface="Calibri"/>
              </a:rPr>
              <a:t>Add triggers and data when live; interim file or manual feed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663440"/>
            <a:ext cx="4206240" cy="14630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421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800600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13D"/>
                </a:solidFill>
                <a:latin typeface="Calibri"/>
              </a:rPr>
              <a:t>Employees, managers,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5212079"/>
            <a:ext cx="38404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14213D"/>
                </a:solidFill>
                <a:latin typeface="Calibri"/>
              </a:rPr>
              <a:t/>
            </a:r>
            <a:r>
              <a:rPr sz="1400" b="0" i="0">
                <a:solidFill>
                  <a:srgbClr val="14213D"/>
                </a:solidFill>
                <a:latin typeface="Calibri"/>
              </a:rPr>
              <a:t>Invitations by email, Teams or SF home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400" b="0" i="0">
                <a:solidFill>
                  <a:srgbClr val="14213D"/>
                </a:solidFill>
                <a:latin typeface="Calibri"/>
              </a:rPr>
              <a:t>Results and actions back to people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Why we are doing this, and how we will know it worked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sp>
        <p:nvSpPr>
          <p:cNvPr id="5" name="Card CTX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Project Context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Why the client is investing, who decides, and what the listening landscape looks like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Top 3 business outcomes expected from EX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Executive sponsor and decision rights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Current listening tools, results and baselines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Population, countries, languages, worker types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Is the go-live date fixed, and why?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11 due by week 4</a:t>
            </a:r>
          </a:p>
        </p:txBody>
      </p:sp>
      <p:sp>
        <p:nvSpPr>
          <p:cNvPr id="14" name="Card SUC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Success Measures &amp; Operating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KPIs, baselines, business case, run model and the roadmap after go-live.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KPIs at 6 and 12 months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Baselines for the chosen KPIs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Business case and benefits owner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Run team and annual survey calendar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Policy on using results in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4 due by week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Scope, cadence and contract: the decisions that shape everything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sp>
        <p:nvSpPr>
          <p:cNvPr id="5" name="Card USE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Use-Case Selection &amp; Prioritisation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Which Employee Experience use cases go live first, for whom, how often, and who owns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Mark each use case Wave 1 / Phase 2 / Out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Minimum viable launch if time is tight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Use cases blocked by modules not yet live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Cadence and blackout periods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8 due by week 4</a:t>
            </a:r>
          </a:p>
        </p:txBody>
      </p:sp>
      <p:sp>
        <p:nvSpPr>
          <p:cNvPr id="14" name="Card COM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Licensing, Commercials &amp; Contracting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Contract route, licensed products, tenant, data centre and procurement readiness.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Contract route and licensed products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Tenant provisioned? Which data centre?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AI features licensed and permitted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Implementation partner and SAP/Qualtrics contacts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Procurement and vendor risk review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8 due by week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Engagement and pulse: the foundation programmes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9</a:t>
            </a:r>
          </a:p>
        </p:txBody>
      </p:sp>
      <p:sp>
        <p:nvSpPr>
          <p:cNvPr id="5" name="Card ENG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Employee Engagement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Annual or biannual census engagement programme, models, anonymity, reporting cuts and benchmarks.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Existing model and trend continuity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Reporting cuts and minimum group size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Anonymous vs confidential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Handling sensitive open-text comments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Manager action plans after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5 due by week 4</a:t>
            </a:r>
          </a:p>
        </p:txBody>
      </p:sp>
      <p:sp>
        <p:nvSpPr>
          <p:cNvPr id="14" name="Card PLS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Pulse &amp; Ad Hoc Listening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Always-on, quarterly, topic-based and event-driven pulses, governance and fatigue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Which pulse programmes are needed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Who can launch a pulse, and fatigue limits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Delivery channels needed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Real-time alerts and case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3 due by week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Lifecycle surveys depend on events and on modules still to come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10</a:t>
            </a:r>
          </a:p>
        </p:txBody>
      </p:sp>
      <p:sp>
        <p:nvSpPr>
          <p:cNvPr id="5" name="Card LCE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Lifecycle Moments: Onboarding, Exit &amp; 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Event-triggered surveys driven by Employee Central events (hire, transfer, leave, termination).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Which lifecycle moments are in scope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EC trigger and event reasons per moment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Onboarding cadence and hiring volumes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Exit survey timing and exclusions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Escalation protocol for serious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14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9 due by week 4</a:t>
            </a:r>
          </a:p>
        </p:txBody>
      </p:sp>
      <p:sp>
        <p:nvSpPr>
          <p:cNvPr id="14" name="Card UPC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Upcoming SuccessFactors Modules &amp; Sequencing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How other modules going live in the same window affect triggers, data, testing and calendars.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SF module go-live dates in the window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EX needs fed into other module designs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Planned EC changes that affect the feed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PMGM cycle calendar and collisions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7 due by week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360 feedback and managers: from insight to action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11</a:t>
            </a:r>
          </a:p>
        </p:txBody>
      </p:sp>
      <p:sp>
        <p:nvSpPr>
          <p:cNvPr id="5" name="Card 360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360 / Multi-Rater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Subjects, evaluators, workflow, competencies, reports and the Qualtrics 360 vs PMGM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Purpose of 360: development vs evaluation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Qualtrics 360 vs PMGM multi-rater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Rater workflow: predefined, nominated or open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Competency model, rating scale and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14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8 due by week 4</a:t>
            </a:r>
          </a:p>
        </p:txBody>
      </p:sp>
      <p:sp>
        <p:nvSpPr>
          <p:cNvPr id="14" name="Card MGR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Manager Effectiveness &amp; Action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Manager dashboards, expectations after results, and closing the loop with action plans.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Manager action-plan expectations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How a manager is defined; small teams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Follow-up for low-scoring teams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Manager access: dashboard vs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4 due by week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Technology experience, content, scales and languages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12</a:t>
            </a:r>
          </a:p>
        </p:txBody>
      </p:sp>
      <p:sp>
        <p:nvSpPr>
          <p:cNvPr id="5" name="Card ETX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Employee Technology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Measuring the experience of tools and services, including SuccessFactors adoption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Is technology experience in scope?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Owner outside HR for technology experience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ITSM tool and ticket creation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Measure SuccessFactors experience itself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3 due by week 4</a:t>
            </a:r>
          </a:p>
        </p:txBody>
      </p:sp>
      <p:sp>
        <p:nvSpPr>
          <p:cNvPr id="14" name="Card SUR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Survey Content, Scales &amp;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Question libraries, rating scales, translations, branding, accessibility and consent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Languages and translation process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Rating scales to standardise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Mandatory consent and privacy text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Qualtrics library vs custom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6 due by week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Integration and data decide the schedule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13</a:t>
            </a:r>
          </a:p>
        </p:txBody>
      </p:sp>
      <p:sp>
        <p:nvSpPr>
          <p:cNvPr id="5" name="Card INT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SuccessFactors Integration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How Employee Central data and events reach Qualtrics, authentication, environments and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SF instances, data centre and identity provider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Preferred integration method for employee data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Sync frequency and real-time needs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Embed surveys inside SF home or mobile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Architecture approvals and change freezes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15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 due by week 4</a:t>
            </a:r>
          </a:p>
        </p:txBody>
      </p:sp>
      <p:sp>
        <p:nvSpPr>
          <p:cNvPr id="14" name="Card DAT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Employee Data, Hierarchy &amp;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Which Employee Central fields drive reporting hierarchies, segmentation, triggers and eligibility.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EC fields needed in Qualtrics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EC data quality: manager, email, location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Hierarchy that drives reporting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Who is eligible to be surveyed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13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11 due by week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Reporting, AI and who gets to see what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14</a:t>
            </a:r>
          </a:p>
        </p:txBody>
      </p:sp>
      <p:sp>
        <p:nvSpPr>
          <p:cNvPr id="5" name="Card RPT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Reporting, Dashboards &amp; Analytics (incl.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Audiences, dashboards, distribution, text analytics, and joining survey data with SF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Reporting audiences and needs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AI text analytics and summary approval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Joining survey data with SF outcomes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Agreed definitions for custom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4 due by week 4</a:t>
            </a:r>
          </a:p>
        </p:txBody>
      </p:sp>
      <p:sp>
        <p:nvSpPr>
          <p:cNvPr id="14" name="Card ROL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Roles, Access &amp;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Administrator model, role design by hierarchy, approvals, segregation of duties and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Brand admins vs project admins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Viewer roles mapped to hierarchy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Who creates, approves and releases surveys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EX steering and governance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5 due by week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Privacy, consultation and trust come before launch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5" name="Card SEC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Security, Privacy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Residency, anonymity, consultation, consent, retention, AI governance and vendor security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Data residency and cross-border transfer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Works council and union consultation timelines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Anonymity thresholds and exceptions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Vendor security review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must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 due by week 4</a:t>
            </a:r>
          </a:p>
        </p:txBody>
      </p:sp>
      <p:sp>
        <p:nvSpPr>
          <p:cNvPr id="14" name="Card CMM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0020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Calibri"/>
              </a:rPr>
              <a:t>Communications, Change &amp;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Calibri"/>
              </a:rPr>
              <a:t>Invitations, sender, trust messaging, manager toolkits, training and closing the loop.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KEY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Sender, domain and channels for invitations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Internal Comms engaged; channels available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You said, we did: closing-the-loop plan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Clashing campaigns and SF go-live comms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must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56235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5 due by week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Ten decisions we need in the first two weeks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5" name="Decision 1"/>
          <p:cNvSpPr/>
          <p:nvPr/>
        </p:nvSpPr>
        <p:spPr>
          <a:xfrm>
            <a:off x="548640" y="14173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8191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49047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Executive sponsor and decision rights</a:t>
            </a:r>
          </a:p>
        </p:txBody>
      </p:sp>
      <p:sp>
        <p:nvSpPr>
          <p:cNvPr id="8" name="Decision 2"/>
          <p:cNvSpPr/>
          <p:nvPr/>
        </p:nvSpPr>
        <p:spPr>
          <a:xfrm>
            <a:off x="548640" y="237744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54203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45059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Is the go-live date fixed, and why?</a:t>
            </a:r>
          </a:p>
        </p:txBody>
      </p:sp>
      <p:sp>
        <p:nvSpPr>
          <p:cNvPr id="11" name="Decision 3"/>
          <p:cNvSpPr/>
          <p:nvPr/>
        </p:nvSpPr>
        <p:spPr>
          <a:xfrm>
            <a:off x="548640" y="333756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350215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41071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Mark each use case Wave 1 / Phase 2 / Out</a:t>
            </a:r>
          </a:p>
        </p:txBody>
      </p:sp>
      <p:sp>
        <p:nvSpPr>
          <p:cNvPr id="14" name="Decision 4"/>
          <p:cNvSpPr/>
          <p:nvPr/>
        </p:nvSpPr>
        <p:spPr>
          <a:xfrm>
            <a:off x="548640" y="429768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46227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37083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Minimum viable launch if time is tight</a:t>
            </a:r>
          </a:p>
        </p:txBody>
      </p:sp>
      <p:sp>
        <p:nvSpPr>
          <p:cNvPr id="17" name="Decision 5"/>
          <p:cNvSpPr/>
          <p:nvPr/>
        </p:nvSpPr>
        <p:spPr>
          <a:xfrm>
            <a:off x="548640" y="52578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542239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33095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Contract route and licensed products</a:t>
            </a:r>
          </a:p>
        </p:txBody>
      </p:sp>
      <p:sp>
        <p:nvSpPr>
          <p:cNvPr id="20" name="Decision 6"/>
          <p:cNvSpPr/>
          <p:nvPr/>
        </p:nvSpPr>
        <p:spPr>
          <a:xfrm>
            <a:off x="6217920" y="14173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58191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49047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Preferred integration method for employee data</a:t>
            </a:r>
          </a:p>
        </p:txBody>
      </p:sp>
      <p:sp>
        <p:nvSpPr>
          <p:cNvPr id="23" name="Decision 7"/>
          <p:cNvSpPr/>
          <p:nvPr/>
        </p:nvSpPr>
        <p:spPr>
          <a:xfrm>
            <a:off x="6217920" y="237744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82512" y="254203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45059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Which lifecycle moments are in scope</a:t>
            </a:r>
          </a:p>
        </p:txBody>
      </p:sp>
      <p:sp>
        <p:nvSpPr>
          <p:cNvPr id="26" name="Decision 8"/>
          <p:cNvSpPr/>
          <p:nvPr/>
        </p:nvSpPr>
        <p:spPr>
          <a:xfrm>
            <a:off x="6217920" y="333756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2512" y="350215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1071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Qualtrics 360 vs PMGM multi-rater</a:t>
            </a:r>
          </a:p>
        </p:txBody>
      </p:sp>
      <p:sp>
        <p:nvSpPr>
          <p:cNvPr id="29" name="Decision 9"/>
          <p:cNvSpPr/>
          <p:nvPr/>
        </p:nvSpPr>
        <p:spPr>
          <a:xfrm>
            <a:off x="6217920" y="429768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2512" y="446227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7083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Works council and union consultation timelines</a:t>
            </a:r>
          </a:p>
        </p:txBody>
      </p:sp>
      <p:sp>
        <p:nvSpPr>
          <p:cNvPr id="32" name="Decision 10"/>
          <p:cNvSpPr/>
          <p:nvPr/>
        </p:nvSpPr>
        <p:spPr>
          <a:xfrm>
            <a:off x="6217920" y="52578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542239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330952"/>
            <a:ext cx="4434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SF module go-live dates in the window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Illustrative 16-week plan: go-live in weeks 14-15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17</a:t>
            </a:r>
          </a:p>
        </p:txBody>
      </p:sp>
      <p:sp>
        <p:nvSpPr>
          <p:cNvPr id="5" name="Holiday band"/>
          <p:cNvSpPr/>
          <p:nvPr/>
        </p:nvSpPr>
        <p:spPr>
          <a:xfrm>
            <a:off x="6976872" y="1828800"/>
            <a:ext cx="1078992" cy="3438144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9896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3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79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3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5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3848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3344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1463040"/>
            <a:ext cx="539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248656"/>
            <a:ext cx="81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573"/>
                </a:solidFill>
                <a:latin typeface="Calibri"/>
              </a:rPr>
              <a:t>2 Nov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3" y="5248656"/>
            <a:ext cx="81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573"/>
                </a:solidFill>
                <a:latin typeface="Calibri"/>
              </a:rPr>
              <a:t>30 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7" y="5248656"/>
            <a:ext cx="81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573"/>
                </a:solidFill>
                <a:latin typeface="Calibri"/>
              </a:rPr>
              <a:t>28 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5248656"/>
            <a:ext cx="81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573"/>
                </a:solidFill>
                <a:latin typeface="Calibri"/>
              </a:rPr>
              <a:t>25 Jan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5248656"/>
            <a:ext cx="81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573"/>
                </a:solidFill>
                <a:latin typeface="Calibri"/>
              </a:rPr>
              <a:t>15 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87452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Mobilise &amp; discover</a:t>
            </a:r>
          </a:p>
        </p:txBody>
      </p:sp>
      <p:sp>
        <p:nvSpPr>
          <p:cNvPr id="28" name="Bar Mobilise &amp; discover"/>
          <p:cNvSpPr/>
          <p:nvPr/>
        </p:nvSpPr>
        <p:spPr>
          <a:xfrm>
            <a:off x="3227832" y="1929384"/>
            <a:ext cx="1024127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35000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Design</a:t>
            </a:r>
          </a:p>
        </p:txBody>
      </p:sp>
      <p:sp>
        <p:nvSpPr>
          <p:cNvPr id="30" name="Bar Design"/>
          <p:cNvSpPr/>
          <p:nvPr/>
        </p:nvSpPr>
        <p:spPr>
          <a:xfrm>
            <a:off x="4306824" y="2404872"/>
            <a:ext cx="1563624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25496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Build &amp; integrate</a:t>
            </a:r>
          </a:p>
        </p:txBody>
      </p:sp>
      <p:sp>
        <p:nvSpPr>
          <p:cNvPr id="32" name="Bar Build &amp; integrate"/>
          <p:cNvSpPr/>
          <p:nvPr/>
        </p:nvSpPr>
        <p:spPr>
          <a:xfrm>
            <a:off x="5385816" y="2880360"/>
            <a:ext cx="3182112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Test &amp; pilot</a:t>
            </a:r>
          </a:p>
        </p:txBody>
      </p:sp>
      <p:sp>
        <p:nvSpPr>
          <p:cNvPr id="34" name="Bar Test &amp; pilot"/>
          <p:cNvSpPr/>
          <p:nvPr/>
        </p:nvSpPr>
        <p:spPr>
          <a:xfrm>
            <a:off x="8083295" y="3355848"/>
            <a:ext cx="2103120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776472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Go-live preparation</a:t>
            </a:r>
          </a:p>
        </p:txBody>
      </p:sp>
      <p:sp>
        <p:nvSpPr>
          <p:cNvPr id="36" name="Bar Go-live preparation"/>
          <p:cNvSpPr/>
          <p:nvPr/>
        </p:nvSpPr>
        <p:spPr>
          <a:xfrm>
            <a:off x="9162287" y="3831336"/>
            <a:ext cx="1563624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Go-live</a:t>
            </a:r>
          </a:p>
        </p:txBody>
      </p:sp>
      <p:sp>
        <p:nvSpPr>
          <p:cNvPr id="38" name="Bar Go-live"/>
          <p:cNvSpPr/>
          <p:nvPr/>
        </p:nvSpPr>
        <p:spPr>
          <a:xfrm>
            <a:off x="10241280" y="4306824"/>
            <a:ext cx="1024127" cy="310896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2744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Hypercare &amp; handover</a:t>
            </a:r>
          </a:p>
        </p:txBody>
      </p:sp>
      <p:sp>
        <p:nvSpPr>
          <p:cNvPr id="40" name="Bar Hypercare &amp; handover"/>
          <p:cNvSpPr/>
          <p:nvPr/>
        </p:nvSpPr>
        <p:spPr>
          <a:xfrm>
            <a:off x="10780776" y="4782312"/>
            <a:ext cx="1024127" cy="310896"/>
          </a:xfrm>
          <a:prstGeom prst="roundRect">
            <a:avLst>
              <a:gd name="adj" fmla="val 3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61441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B26A00"/>
                </a:solidFill>
                <a:latin typeface="Calibri"/>
              </a:rPr>
              <a:t>Shaded weeks 8-9: year-end holidays, expect lower 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Security, privacy and consultation work starts in week 1 because it often gates access to real employee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Six risks most likely to move the date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18</a:t>
            </a:r>
          </a:p>
        </p:txBody>
      </p:sp>
      <p:sp>
        <p:nvSpPr>
          <p:cNvPr id="5" name="Risk 1"/>
          <p:cNvSpPr/>
          <p:nvPr/>
        </p:nvSpPr>
        <p:spPr>
          <a:xfrm>
            <a:off x="548640" y="14173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270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Vendor security, privacy or DPIA review runs past the build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671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Start reviews in week 1; share Qualtrics security pack early; build on test data in the meantime</a:t>
            </a:r>
          </a:p>
        </p:txBody>
      </p:sp>
      <p:sp>
        <p:nvSpPr>
          <p:cNvPr id="9" name="Risk 2"/>
          <p:cNvSpPr/>
          <p:nvPr/>
        </p:nvSpPr>
        <p:spPr>
          <a:xfrm>
            <a:off x="6217920" y="14173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270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Other SF modules go live in the same window and consume the same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671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Agree a single resource plan and change calendar; avoid EX testing during cutovers</a:t>
            </a:r>
          </a:p>
        </p:txBody>
      </p:sp>
      <p:sp>
        <p:nvSpPr>
          <p:cNvPr id="13" name="Risk 3"/>
          <p:cNvSpPr/>
          <p:nvPr/>
        </p:nvSpPr>
        <p:spPr>
          <a:xfrm>
            <a:off x="548640" y="30175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272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EC data quality (manager, email, location) creates wrong survey populations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673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Run a data-quality profile in weeks 2-3; fix at source; add exception reports</a:t>
            </a:r>
          </a:p>
        </p:txBody>
      </p:sp>
      <p:sp>
        <p:nvSpPr>
          <p:cNvPr id="17" name="Risk 4"/>
          <p:cNvSpPr/>
          <p:nvPr/>
        </p:nvSpPr>
        <p:spPr>
          <a:xfrm>
            <a:off x="6217920" y="30175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32004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272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Works council or union consultation required in one or more 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673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Identify countries in week 2; launch in unaffected countries first; prepare consultation pack</a:t>
            </a:r>
          </a:p>
        </p:txBody>
      </p:sp>
      <p:sp>
        <p:nvSpPr>
          <p:cNvPr id="21" name="Risk 5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80060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4213D"/>
                </a:solidFill>
                <a:latin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274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Integration capacity (BTP or API skills) is not 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675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Confirm the build owner in week 2; fall back to SFTP file feed for Wave 1</a:t>
            </a:r>
          </a:p>
        </p:txBody>
      </p:sp>
      <p:sp>
        <p:nvSpPr>
          <p:cNvPr id="25" name="Risk 6"/>
          <p:cNvSpPr/>
          <p:nvPr/>
        </p:nvSpPr>
        <p:spPr>
          <a:xfrm>
            <a:off x="6217920" y="4617720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80060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4213D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72744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Lifecycle triggers depend on modules that are not yet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367528"/>
            <a:ext cx="4251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 EC hire and termination events; manual or file triggers for the rest; defer candidate use case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What we need from you next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Confirm executive sponsor and decision rights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Share past survey results and reports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Start vendor security and privacy review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Name the project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1E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By end of week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4884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377440"/>
            <a:ext cx="3108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Mark every use case Wave 1, Phase 2 or Out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Complete SF Module Readiness tab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Confirm integration method and owner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Identify countries needing consultation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By end of week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14884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377440"/>
            <a:ext cx="3108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/>
            </a:r>
            <a:r>
              <a:rPr sz="1600" b="0" i="0">
                <a:solidFill>
                  <a:srgbClr val="1F2937"/>
                </a:solidFill>
                <a:latin typeface="Calibri"/>
              </a:rPr>
              <a:t>Complete the Data Inventory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Freeze survey content and languages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Agree anonymity thresholds and roles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Sign off Wave 1 scope and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573"/>
                </a:solidFill>
                <a:latin typeface="Calibri"/>
              </a:rPr>
              <a:t>Companion files: Excel workbook (live tracker), Word document (client-facing), Markdown (for editing and version control).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Calibri"/>
              </a:rPr>
              <a:t>Sources and caveats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573"/>
                </a:solidFill>
                <a:latin typeface="Calibri"/>
              </a:rPr>
              <a:t>Qualtrics EX scoping  |  SAP SuccessFactors  |  [Client name]</a:t>
            </a:r>
          </a:p>
        </p:txBody>
      </p:sp>
      <p:sp>
        <p:nvSpPr>
          <p:cNvPr id="4" name="SlideNo"/>
          <p:cNvSpPr txBox="1"/>
          <p:nvPr/>
        </p:nvSpPr>
        <p:spPr>
          <a:xfrm>
            <a:off x="11064240" y="641908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573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  <a:r>
              <a:rPr sz="1300" b="0" i="0">
                <a:solidFill>
                  <a:srgbClr val="1F2937"/>
                </a:solidFill>
                <a:latin typeface="Calibri"/>
              </a:rPr>
              <a:t>Qualtrics Support: Step 1, Getting Ready to Launch Your 360 Project: https://www.qualtrics.com/support/employee-experience/getting-started-employee-experience/360-onboarding/form-building/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Qualtrics and SAP announce new partnership (SAP Endorsed Apps), Jan 2025: https://www.qualtrics.com/articles/news/qualtrics-and-sap-announce-new-partnership-to-help-organizations-deliver-great-employee-experiences/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SAP Store: Qualtrics XM for Employee Experience: https://www.sap.com/uk/products/hcm/partners/qualtrics-llc-qualtrics-employee-experience.html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SAP User Groups: Qualtrics / SuccessFactors integration roadmap (archived deck): https://assets.dm.ux.sap.com/webinars/sap-user-groups-k4u/pdfs/191212_qualtrics_successfactors_roadmap.pdf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TechTarget: What capabilities does Qualtrics EmployeeXM offer?: https://www.techtarget.com/enterprise-software/answer/What-capabilities-does-Qualtrics-EmployeeXM-offer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Qualtrics 360 terms (subject, evaluator, directory, administrator roles, workflows, waves) come from the Qualtrics Support page you referenced.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6573"/>
                </a:solidFill>
                <a:latin typeface="Calibri"/>
              </a:rPr>
              <a:t>SAP and Qualtrics product names, packaging and integration options change often. Validate every product option with SAP and Qualtrics before committing.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6573"/>
                </a:solidFill>
                <a:latin typeface="Calibri"/>
              </a:rPr>
              <a:t>Use-case fit, plan and risk ratings are our own judgement, not vendor statements.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